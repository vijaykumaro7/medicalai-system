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Sample Patient Risk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Healthy</c:v>
                  </c:pt>
                  <c:pt idx="1">
                    <c:v>Diabetes</c:v>
                  </c:pt>
                  <c:pt idx="2">
                    <c:v>Heart Dis.</c:v>
                  </c:pt>
                  <c:pt idx="3">
                    <c:v>Hyperten.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</c:v>
                </c:pt>
                <c:pt idx="1">
                  <c:v>84.7</c:v>
                </c:pt>
                <c:pt idx="2">
                  <c:v>7.3</c:v>
                </c:pt>
                <c:pt idx="3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B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mages/medAI.jp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566160"/>
            <a:ext cx="9144000" cy="45720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Medical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Treatment System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Multi-Agent Pipeline  ·  Scikit-learn  ·  TensorFlow  ·  LangChain  ·  LangGraph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788920"/>
            <a:ext cx="1463040" cy="347472"/>
          </a:xfrm>
          <a:prstGeom prst="roundRect">
            <a:avLst>
              <a:gd name="adj" fmla="val 23684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57400" y="2788920"/>
            <a:ext cx="1463040" cy="347472"/>
          </a:xfrm>
          <a:prstGeom prst="roundRect">
            <a:avLst>
              <a:gd name="adj" fmla="val 23684"/>
            </a:avLst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2788920"/>
            <a:ext cx="1463040" cy="347472"/>
          </a:xfrm>
          <a:prstGeom prst="roundRect">
            <a:avLst>
              <a:gd name="adj" fmla="val 23684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57800" y="2788920"/>
            <a:ext cx="1463040" cy="347472"/>
          </a:xfrm>
          <a:prstGeom prst="roundRect">
            <a:avLst>
              <a:gd name="adj" fmla="val 23684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Vijay Kumar  ·  Portfolio Project  ·  2025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863840" y="2286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Faces a Diagnostic Crisis</a:t>
            </a:r>
            <a:endParaRPr lang="en-US" sz="2800" dirty="0"/>
          </a:p>
        </p:txBody>
      </p:sp>
      <p:pic>
        <p:nvPicPr>
          <p:cNvPr id="5" name="Image 0" descr="./images/doct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658368"/>
            <a:ext cx="27432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658368"/>
            <a:ext cx="2743200" cy="3291840"/>
          </a:xfrm>
          <a:prstGeom prst="rect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572768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72768"/>
            <a:ext cx="64008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821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16367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Errors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24128" y="1920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40,000 patients die annually in the US due to misdiagnosis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2450592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2450592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060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2514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24128" y="27980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34% of their time on documentation, not patients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328416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3328416"/>
            <a:ext cx="64008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8386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4128" y="33924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Information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24128" y="36758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vitals, imaging, and lab data rarely analyzed together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65760" y="4572000"/>
            <a:ext cx="8503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Our AI system integrates all data streams into one unified, explainable diagnosis pipeline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Multi-Agent AI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powerful technologies. One seamless diagnostic workflow.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14800" cy="1325880"/>
          </a:xfrm>
          <a:prstGeom prst="rect">
            <a:avLst/>
          </a:prstGeom>
          <a:solidFill>
            <a:srgbClr val="112B4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84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 on tabular patient vitals — age, BMI, glucose, cholesterol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4114800" cy="1325880"/>
          </a:xfrm>
          <a:prstGeom prst="rect">
            <a:avLst/>
          </a:prstGeom>
          <a:solidFill>
            <a:srgbClr val="112B4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984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57784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3776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CNN with transfer learning classifies chest X-rays in 4 categories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383280"/>
            <a:ext cx="4114800" cy="1325880"/>
          </a:xfrm>
          <a:prstGeom prst="rect">
            <a:avLst/>
          </a:prstGeom>
          <a:solidFill>
            <a:srgbClr val="112B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033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493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09728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evidence-based treatment plans from indexed medical literature via ChromaDB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3383280"/>
            <a:ext cx="4114800" cy="1325880"/>
          </a:xfrm>
          <a:prstGeom prst="rect">
            <a:avLst/>
          </a:prstGeom>
          <a:solidFill>
            <a:srgbClr val="112B4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033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493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557784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93776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state machine with conditional emergency escalation routing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3474720" cy="576072"/>
          </a:xfrm>
          <a:prstGeom prst="rect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+ X-ray image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984248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240280"/>
            <a:ext cx="347472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95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+ TensorFlow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83464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090672"/>
            <a:ext cx="3474720" cy="576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45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RAG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3685032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941064"/>
            <a:ext cx="3474720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42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Patient-friendly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35808"/>
            <a:ext cx="15544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05409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Emergency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26440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65960" y="2249424"/>
            <a:ext cx="0" cy="786384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20040" y="3035808"/>
            <a:ext cx="164592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pic>
        <p:nvPicPr>
          <p:cNvPr id="25" name="Image 0" descr="./images/bra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713232"/>
            <a:ext cx="4297680" cy="422452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572000" y="713232"/>
            <a:ext cx="4297680" cy="4224528"/>
          </a:xfrm>
          <a:prstGeom prst="rect">
            <a:avLst/>
          </a:prstGeom>
          <a:solidFill>
            <a:srgbClr val="0A1628">
              <a:alpha val="52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960120"/>
            <a:ext cx="3931920" cy="38404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StateGraph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09160" y="1508760"/>
            <a:ext cx="3931920" cy="38404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Routing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09160" y="2057400"/>
            <a:ext cx="3931920" cy="38404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Memory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09160" y="2606040"/>
            <a:ext cx="3931920" cy="384048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 Synthesis (GPT-4o)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/ 4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4980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7498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 Classifier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78992" y="13167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Gradient Boosting Machine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783080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79222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GradientBoostingClassifier (n_estimators=200, lr=0.05)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167128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1762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preprocessing pipeline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255117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5603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4-class: Healthy / Diabetes / Heart Disease / Hypertension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2935224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9443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confidence % + per-class risk scores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3319272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32841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patient vitals: age, BMI, glucose, BP, cholesterol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3703320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71246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88–92% accuracy on tabular patient data</a:t>
            </a:r>
            <a:endParaRPr lang="en-US" sz="11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029200" y="91440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320040" y="4572000"/>
            <a:ext cx="43891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0040" y="45720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Model Accuracy:  88–92%  on structured patient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/ 4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498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7498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Analyzer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51560" y="13167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 ·  EfficientNetB0  ·  Transfer Learning</a:t>
            </a:r>
            <a:endParaRPr lang="en-US" sz="1300" dirty="0"/>
          </a:p>
        </p:txBody>
      </p:sp>
      <p:pic>
        <p:nvPicPr>
          <p:cNvPr id="7" name="Image 1" descr="./images/xra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658368"/>
            <a:ext cx="3383280" cy="42793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0" y="658368"/>
            <a:ext cx="3383280" cy="4279392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47472" y="1755648"/>
            <a:ext cx="484632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4632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(224×224×3)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514600" y="2148840"/>
            <a:ext cx="457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7472" y="2267712"/>
            <a:ext cx="48463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" y="2340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(frozen)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14600" y="2660904"/>
            <a:ext cx="457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472" y="2779776"/>
            <a:ext cx="48463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" y="2852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GlobalAvgPooling2D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514600" y="3172968"/>
            <a:ext cx="457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7472" y="3291840"/>
            <a:ext cx="48463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4632" y="3364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 + BN + Dropout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514600" y="3685032"/>
            <a:ext cx="457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7472" y="3803904"/>
            <a:ext cx="48463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84632" y="38770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(4 classes)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47472" y="4434840"/>
            <a:ext cx="105156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347472" y="44348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517904" y="4434840"/>
            <a:ext cx="10515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517904" y="44348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688336" y="4434840"/>
            <a:ext cx="10515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2688336" y="44348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858768" y="4434840"/>
            <a:ext cx="105156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3858768" y="44348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347472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Classes: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47472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accuracy using EfficientNetB0 transfer learning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/ 4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498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74980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RAG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5156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ChromaDB  ·  OpenAI Embeddings  ·  GPT-4o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810512"/>
            <a:ext cx="2743200" cy="1234440"/>
          </a:xfrm>
          <a:prstGeom prst="rect">
            <a:avLst/>
          </a:prstGeom>
          <a:solidFill>
            <a:srgbClr val="112B47"/>
          </a:solidFill>
          <a:ln w="254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" y="2011680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PDFs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PubMed, WHO, guidelines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35808" y="2377440"/>
            <a:ext cx="15544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810512"/>
            <a:ext cx="2743200" cy="1234440"/>
          </a:xfrm>
          <a:prstGeom prst="rect">
            <a:avLst/>
          </a:prstGeom>
          <a:solidFill>
            <a:srgbClr val="112B47"/>
          </a:solidFill>
          <a:ln w="25400">
            <a:solidFill>
              <a:srgbClr val="11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64992" y="2011680"/>
            <a:ext cx="411480" cy="411480"/>
          </a:xfrm>
          <a:prstGeom prst="ellipse">
            <a:avLst/>
          </a:prstGeom>
          <a:solidFill>
            <a:srgbClr val="112B47"/>
          </a:solidFill>
          <a:ln w="12700">
            <a:solidFill>
              <a:srgbClr val="112B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4992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88620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64992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tokens, 200 overlap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61888" y="2377440"/>
            <a:ext cx="15544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1810512"/>
            <a:ext cx="2743200" cy="1234440"/>
          </a:xfrm>
          <a:prstGeom prst="rect">
            <a:avLst/>
          </a:prstGeom>
          <a:solidFill>
            <a:srgbClr val="112B47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91072" y="20116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1228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91072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3319272"/>
            <a:ext cx="2743200" cy="1234440"/>
          </a:xfrm>
          <a:prstGeom prst="rect">
            <a:avLst/>
          </a:prstGeom>
          <a:solidFill>
            <a:srgbClr val="112B4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" y="35204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6012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38912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DB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035808" y="3886200"/>
            <a:ext cx="15544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00400" y="3319272"/>
            <a:ext cx="2743200" cy="1234440"/>
          </a:xfrm>
          <a:prstGeom prst="rect">
            <a:avLst/>
          </a:prstGeom>
          <a:solidFill>
            <a:srgbClr val="112B4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364992" y="35204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499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88620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(top-5)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364992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search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961888" y="3886200"/>
            <a:ext cx="155448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26480" y="3319272"/>
            <a:ext cx="2743200" cy="1234440"/>
          </a:xfrm>
          <a:prstGeom prst="rect">
            <a:avLst/>
          </a:prstGeom>
          <a:solidFill>
            <a:srgbClr val="112B47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91072" y="352044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91072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81228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Synthesis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91072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treatment plan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/ 4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498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74980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51560" y="13167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StateGraph  ·  Conditional Routing  ·  TypedDict State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1755648"/>
            <a:ext cx="41605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755648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470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Agent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22311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sklearn + TF CNN, GPT-4o synthesizes final diagnosis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846320" y="1755648"/>
            <a:ext cx="41605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755648"/>
            <a:ext cx="64008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031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8470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Agent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23560" y="22311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LangChain RAG for evidence-based treatment plans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3310128"/>
            <a:ext cx="41605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0040" y="3310128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97280" y="37856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diagnosis into plain-English patient report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46320" y="3310128"/>
            <a:ext cx="41605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3310128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65760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23560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Agent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623560" y="37856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high-risk cases (&gt;85% critical confidence)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→ DiagnosisAgent → [Router] → TreatmentAgent → CommunicationAgent → END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mages/data.jp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7498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Delivers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2011680" cy="2011680"/>
          </a:xfrm>
          <a:prstGeom prst="rect">
            <a:avLst/>
          </a:prstGeom>
          <a:solidFill>
            <a:srgbClr val="0D9488">
              <a:alpha val="82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7276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472" y="21488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88–92%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347472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50592" y="1463040"/>
            <a:ext cx="2011680" cy="2011680"/>
          </a:xfrm>
          <a:prstGeom prst="rect">
            <a:avLst/>
          </a:prstGeom>
          <a:solidFill>
            <a:srgbClr val="8B5CF6">
              <a:alpha val="82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572768"/>
            <a:ext cx="512064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23744" y="21488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2523744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CNN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26864" y="1463040"/>
            <a:ext cx="2011680" cy="2011680"/>
          </a:xfrm>
          <a:prstGeom prst="rect">
            <a:avLst/>
          </a:prstGeom>
          <a:solidFill>
            <a:srgbClr val="F59E0B">
              <a:alpha val="82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572768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0016" y="21488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4700016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Time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803136" y="1463040"/>
            <a:ext cx="2011680" cy="2011680"/>
          </a:xfrm>
          <a:prstGeom prst="rect">
            <a:avLst/>
          </a:prstGeom>
          <a:solidFill>
            <a:srgbClr val="EF4444">
              <a:alpha val="82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4" y="1572768"/>
            <a:ext cx="512064" cy="5120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76288" y="21488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6876288" y="26974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74320" y="3767328"/>
            <a:ext cx="25603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0080" y="3776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patient data in → diagnosis + treatment + report out in ~15 seconds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274320" y="4151376"/>
            <a:ext cx="25603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4008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to GPT-4o direct knowledge when no RAG knowledge base is present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74320" y="4535424"/>
            <a:ext cx="25603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0080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routing auto-triggers for Heart Disease risk &gt; 85% confidence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Technology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8595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/ Tool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146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74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Chosen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1.4+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disease risk classification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4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GBM on structured EHR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859536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2.15+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CNN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7492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via EfficientNetB0 transfer learning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06624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98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0.2+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clinical literature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LLM answers in real PubMed / WHO guidelines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182112"/>
            <a:ext cx="859536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18211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0.1+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 orchestration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 machine with emergency routing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65760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0.4+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for document embeddings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749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fast semantic retrieval of medical knowledge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133088"/>
            <a:ext cx="859536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33088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(OpenAI)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1460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synthesis and communication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7492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Human-quality reasoning, diagnosis summary, patient report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pic>
        <p:nvPicPr>
          <p:cNvPr id="5" name="Image 0" descr="./images/te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658368"/>
            <a:ext cx="3931920" cy="42793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658368"/>
            <a:ext cx="3931920" cy="4279392"/>
          </a:xfrm>
          <a:prstGeom prst="rect">
            <a:avLst/>
          </a:prstGeom>
          <a:solidFill>
            <a:srgbClr val="0D2137">
              <a:alpha val="52000"/>
            </a:srgbClr>
          </a:solidFill>
          <a:ln w="12700">
            <a:solidFill>
              <a:srgbClr val="0D213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389888"/>
            <a:ext cx="62179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389888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endpoint for deployment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901952"/>
            <a:ext cx="62179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901952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19751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Gradio web UI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2414016"/>
            <a:ext cx="621792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41401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2487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medical image support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2926080"/>
            <a:ext cx="621792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926080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29992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CheXpert / NIH datasets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438144"/>
            <a:ext cx="6217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438144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35112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ML predictions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3950208"/>
            <a:ext cx="6217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950208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60" y="40233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+ CI/CD pipeline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0040" y="4462272"/>
            <a:ext cx="621792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4462272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1560" y="45354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EHR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mages/dna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4813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3"/>
          <p:cNvSpPr/>
          <p:nvPr/>
        </p:nvSpPr>
        <p:spPr>
          <a:xfrm>
            <a:off x="457200" y="2542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Medical Diagnosis &amp; Treatment Recommendation System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3182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×  TensorFlow  ×  LangChain  ×  LangGraph — one unified AI pipeline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Vijay Kumar  ·  github.com/VijayKumaro7  ·  2025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6227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Medical Diagnosis &amp; Treatment Recommendation System</dc:title>
  <dc:subject>PptxGenJS Presentation</dc:subject>
  <dc:creator>Vijay Kumar</dc:creator>
  <cp:lastModifiedBy>Vijay Kumar</cp:lastModifiedBy>
  <cp:revision>1</cp:revision>
  <dcterms:created xsi:type="dcterms:W3CDTF">2026-02-24T07:10:30Z</dcterms:created>
  <dcterms:modified xsi:type="dcterms:W3CDTF">2026-02-24T07:10:30Z</dcterms:modified>
</cp:coreProperties>
</file>